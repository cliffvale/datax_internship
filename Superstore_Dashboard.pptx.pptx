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1BCA-2800-4A6F-BB96-164786A22023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06B84798-17C5-4C79-AB69-DDF23C7F7B0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658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1BCA-2800-4A6F-BB96-164786A22023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4798-17C5-4C79-AB69-DDF23C7F7B06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001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1BCA-2800-4A6F-BB96-164786A22023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4798-17C5-4C79-AB69-DDF23C7F7B0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135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1BCA-2800-4A6F-BB96-164786A22023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4798-17C5-4C79-AB69-DDF23C7F7B06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77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1BCA-2800-4A6F-BB96-164786A22023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4798-17C5-4C79-AB69-DDF23C7F7B06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4795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1BCA-2800-4A6F-BB96-164786A22023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4798-17C5-4C79-AB69-DDF23C7F7B06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270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1BCA-2800-4A6F-BB96-164786A22023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4798-17C5-4C79-AB69-DDF23C7F7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560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1BCA-2800-4A6F-BB96-164786A22023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4798-17C5-4C79-AB69-DDF23C7F7B06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689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CD191BCA-2800-4A6F-BB96-164786A22023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4798-17C5-4C79-AB69-DDF23C7F7B06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2858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1BCA-2800-4A6F-BB96-164786A22023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4798-17C5-4C79-AB69-DDF23C7F7B06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5346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1BCA-2800-4A6F-BB96-164786A22023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4798-17C5-4C79-AB69-DDF23C7F7B0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1471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91BCA-2800-4A6F-BB96-164786A22023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6B84798-17C5-4C79-AB69-DDF23C7F7B0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995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AFB7C-0E81-101E-345D-72D1B915D9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dirty="0"/>
              <a:t>Superstore Performance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7E419-61A1-F694-B417-E3360DEEF2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4754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/>
              <a:t>Executive Dashboard Summary &amp; Key 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83332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25B78-B93B-0D93-C478-2D8CA4F0E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406" y="625642"/>
            <a:ext cx="4010239" cy="1880770"/>
          </a:xfrm>
        </p:spPr>
        <p:txBody>
          <a:bodyPr>
            <a:normAutofit/>
          </a:bodyPr>
          <a:lstStyle/>
          <a:p>
            <a:r>
              <a:rPr lang="en-US" sz="4000" dirty="0"/>
              <a:t>High-Level KPIs &amp;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039C3-72F0-5A5D-23B0-60BEBF3EC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232" y="2662990"/>
            <a:ext cx="3684589" cy="3569368"/>
          </a:xfrm>
        </p:spPr>
        <p:txBody>
          <a:bodyPr>
            <a:normAutofit/>
          </a:bodyPr>
          <a:lstStyle/>
          <a:p>
            <a:r>
              <a:rPr lang="en-US" b="1" dirty="0"/>
              <a:t>Total Sales:</a:t>
            </a:r>
            <a:r>
              <a:rPr lang="en-US" dirty="0"/>
              <a:t> 2,297,201. </a:t>
            </a:r>
          </a:p>
          <a:p>
            <a:r>
              <a:rPr lang="en-US" b="1" dirty="0"/>
              <a:t>Total Profit:</a:t>
            </a:r>
            <a:r>
              <a:rPr lang="en-US" dirty="0"/>
              <a:t> 286,397. </a:t>
            </a:r>
          </a:p>
          <a:p>
            <a:r>
              <a:rPr lang="en-US" b="1" dirty="0"/>
              <a:t>Growth Trajectory:</a:t>
            </a:r>
            <a:r>
              <a:rPr lang="en-US" dirty="0"/>
              <a:t> Overall profitability demonstrates a consistent, upward trend year-over-year from 2014 through 2017.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34E52B-0B35-D0AF-41CE-406DF5C618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471" y="182562"/>
            <a:ext cx="7305297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505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75C8CE-CE54-CF91-BB59-5C386297F2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87" t="56117" r="1646" b="18643"/>
          <a:stretch>
            <a:fillRect/>
          </a:stretch>
        </p:blipFill>
        <p:spPr>
          <a:xfrm>
            <a:off x="6418411" y="2791327"/>
            <a:ext cx="5544989" cy="25506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5E800B-7C5E-B20D-B872-5DDD6A51B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0884" y="332956"/>
            <a:ext cx="8033084" cy="1325563"/>
          </a:xfrm>
        </p:spPr>
        <p:txBody>
          <a:bodyPr>
            <a:normAutofit/>
          </a:bodyPr>
          <a:lstStyle/>
          <a:p>
            <a:pPr algn="just"/>
            <a:r>
              <a:rPr lang="en-US" sz="4400" dirty="0"/>
              <a:t>Regional Performance &amp; Profitability 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7347C-7426-B4F7-93A4-79879AFB2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000" y="2144797"/>
            <a:ext cx="6252411" cy="4380247"/>
          </a:xfrm>
        </p:spPr>
        <p:txBody>
          <a:bodyPr>
            <a:normAutofit/>
          </a:bodyPr>
          <a:lstStyle/>
          <a:p>
            <a:r>
              <a:rPr lang="en-US" b="1" dirty="0"/>
              <a:t>Top Performing Territory:</a:t>
            </a:r>
            <a:r>
              <a:rPr lang="en-US" dirty="0"/>
              <a:t> The West region leads all other territories in total sales volume, followed closely by the East. </a:t>
            </a:r>
          </a:p>
          <a:p>
            <a:r>
              <a:rPr lang="en-US" b="1" dirty="0"/>
              <a:t>Profitability Warning Signs:</a:t>
            </a:r>
            <a:r>
              <a:rPr lang="en-US" dirty="0"/>
              <a:t> While the overall trend is highly positive, the profitability scatter plot identifies several high-sales item clusters that are actively generating negative profit (falling below the 0K line). This indicates an immediate need for pricing adjustments or cost-cutting in those specific sub-categories.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88464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</TotalTime>
  <Words>117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Gill Sans MT</vt:lpstr>
      <vt:lpstr>Gallery</vt:lpstr>
      <vt:lpstr>Superstore Performance Overview</vt:lpstr>
      <vt:lpstr>High-Level KPIs &amp; Trends</vt:lpstr>
      <vt:lpstr>Regional Performance &amp; Profitability Outliers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Bhrigu</dc:creator>
  <cp:lastModifiedBy>Bhrigu</cp:lastModifiedBy>
  <cp:revision>1</cp:revision>
  <dcterms:created xsi:type="dcterms:W3CDTF">2026-07-02T15:32:02Z</dcterms:created>
  <dcterms:modified xsi:type="dcterms:W3CDTF">2026-07-02T15:38:21Z</dcterms:modified>
</cp:coreProperties>
</file>